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Space Mono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Space Grotesk SemiBo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SemiBold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SpaceGroteskSemiBold-bold.fntdata"/><Relationship Id="rId13" Type="http://schemas.openxmlformats.org/officeDocument/2006/relationships/font" Target="fonts/SpaceMono-bold.fntdata"/><Relationship Id="rId12" Type="http://schemas.openxmlformats.org/officeDocument/2006/relationships/font" Target="fonts/SpaceMon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SpaceMono-boldItalic.fntdata"/><Relationship Id="rId14" Type="http://schemas.openxmlformats.org/officeDocument/2006/relationships/font" Target="fonts/SpaceMono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" Target="slides/slide1.xml"/><Relationship Id="rId19" Type="http://schemas.openxmlformats.org/officeDocument/2006/relationships/font" Target="fonts/Inter-boldItalic.fntdata"/><Relationship Id="rId6" Type="http://schemas.openxmlformats.org/officeDocument/2006/relationships/slide" Target="slides/slide2.xml"/><Relationship Id="rId18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h77252931815e13a4_1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h77252931815e13a4_1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h77252931815e13a4_1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FFFFF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483825" y="3338575"/>
            <a:ext cx="5905500" cy="18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876300" y="3703424"/>
            <a:ext cx="5372100" cy="1080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Space Grotesk SemiBold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MODERN AI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Space Grotesk SemiBold"/>
              <a:buNone/>
            </a:pPr>
            <a:r>
              <a:rPr b="0" i="0" lang="en-US" sz="4050" u="none" cap="none" strike="noStrike">
                <a:solidFill>
                  <a:srgbClr val="00000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APPLICATIONS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3500" y="4783475"/>
            <a:ext cx="109537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 title="New Log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723900" cy="72461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/>
        </p:nvSpPr>
        <p:spPr>
          <a:xfrm>
            <a:off x="152400" y="152400"/>
            <a:ext cx="7876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615315" marR="602615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0"/>
            <a:ext cx="2933700" cy="5143500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66436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628650" y="1051917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B241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FFB24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ASK.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227885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/>
          <p:nvPr/>
        </p:nvSpPr>
        <p:spPr>
          <a:xfrm>
            <a:off x="628650" y="2666405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B241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FFB24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ANSWER.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389334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/>
          <p:nvPr/>
        </p:nvSpPr>
        <p:spPr>
          <a:xfrm>
            <a:off x="628650" y="4280892"/>
            <a:ext cx="1676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B241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FFB241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HAND OFF.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3448050" y="171450"/>
            <a:ext cx="5695950" cy="139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030303"/>
                </a:solidFill>
                <a:latin typeface="Space Mono"/>
                <a:ea typeface="Space Mono"/>
                <a:cs typeface="Space Mono"/>
                <a:sym typeface="Space Mono"/>
              </a:rPr>
              <a:t>APPLICATION 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3448050" y="371550"/>
            <a:ext cx="552450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750"/>
              <a:buFont typeface="Space Grotesk SemiBold"/>
              <a:buNone/>
            </a:pPr>
            <a:r>
              <a:rPr b="0" i="0" lang="en-US" sz="375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CHATBOTS MAKE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750"/>
              <a:buFont typeface="Space Grotesk SemiBold"/>
              <a:buNone/>
            </a:pPr>
            <a:r>
              <a:rPr b="0" i="0" lang="en-US" sz="375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INFORMATION FEEL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4615"/>
              </a:buClr>
              <a:buSzPts val="3750"/>
              <a:buFont typeface="Space Grotesk SemiBold"/>
              <a:buNone/>
            </a:pPr>
            <a:r>
              <a:rPr b="0" i="0" lang="en-US" sz="3750" u="none" cap="none" strike="noStrike">
                <a:solidFill>
                  <a:srgbClr val="FF46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INSTANT.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3448050" y="1999729"/>
            <a:ext cx="5524500" cy="492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They understand questions written in everyday language.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90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They can answer, guide, summarize, and hand off to a person.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3448050" y="2611115"/>
            <a:ext cx="5695950" cy="139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Common uses: customer support, learning, and internal help desks.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6500" y="4829163"/>
            <a:ext cx="13525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457200" y="457200"/>
            <a:ext cx="4000500" cy="139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030303"/>
                </a:solidFill>
                <a:latin typeface="Space Mono"/>
                <a:ea typeface="Space Mono"/>
                <a:cs typeface="Space Mono"/>
                <a:sym typeface="Space Mono"/>
              </a:rPr>
              <a:t>APPLICATION 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457200" y="656764"/>
            <a:ext cx="3543300" cy="21600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050"/>
              <a:buFont typeface="Space Grotesk SemiBold"/>
              <a:buNone/>
            </a:pPr>
            <a:r>
              <a:rPr b="0" i="0" lang="en-US" sz="405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SENTIMENT ANALYSIS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050"/>
              <a:buFont typeface="Space Grotesk SemiBold"/>
              <a:buNone/>
            </a:pPr>
            <a:r>
              <a:rPr b="0" i="0" lang="en-US" sz="405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READS THE </a:t>
            </a:r>
            <a:r>
              <a:rPr b="0" i="0" lang="en-US" sz="4050" u="none" cap="none" strike="noStrike">
                <a:solidFill>
                  <a:srgbClr val="FF46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MOOD.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7"/>
          <p:cNvSpPr/>
          <p:nvPr/>
        </p:nvSpPr>
        <p:spPr>
          <a:xfrm>
            <a:off x="457200" y="2945383"/>
            <a:ext cx="40005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It turns written reactions into a simple emotional signal.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4686300" y="171450"/>
            <a:ext cx="1276350" cy="1432917"/>
          </a:xfrm>
          <a:prstGeom prst="rect">
            <a:avLst/>
          </a:prstGeom>
          <a:solidFill>
            <a:srgbClr val="FF46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850" y="3810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/>
          <p:nvPr/>
        </p:nvSpPr>
        <p:spPr>
          <a:xfrm>
            <a:off x="4895850" y="728067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POSITIVE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7"/>
          <p:cNvSpPr/>
          <p:nvPr/>
        </p:nvSpPr>
        <p:spPr>
          <a:xfrm>
            <a:off x="4895850" y="1021556"/>
            <a:ext cx="85725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“Works perfectly.”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6191250" y="171450"/>
            <a:ext cx="1276350" cy="1432917"/>
          </a:xfrm>
          <a:prstGeom prst="rect">
            <a:avLst/>
          </a:prstGeom>
          <a:solidFill>
            <a:srgbClr val="FFB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3810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6400800" y="728067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NEUTRAL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6400800" y="1021556"/>
            <a:ext cx="85725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“Arrived on Tuesday.”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7696200" y="171450"/>
            <a:ext cx="1276350" cy="1432917"/>
          </a:xfrm>
          <a:prstGeom prst="rect">
            <a:avLst/>
          </a:prstGeom>
          <a:solidFill>
            <a:srgbClr val="03030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5750" y="3810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>
            <a:off x="7905750" y="728067"/>
            <a:ext cx="857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NEGATIVE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7905750" y="1021556"/>
            <a:ext cx="85725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“Too hard to use.”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4686300" y="1723430"/>
            <a:ext cx="4286250" cy="279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Teams use it to spot customer satisfaction, complaints, and changing reactions. Example: grouping thousands of product reviews by overall feeling.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8425" y="4829163"/>
            <a:ext cx="13525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8"/>
          <p:cNvSpPr/>
          <p:nvPr/>
        </p:nvSpPr>
        <p:spPr>
          <a:xfrm>
            <a:off x="0" y="0"/>
            <a:ext cx="3227115" cy="5143500"/>
          </a:xfrm>
          <a:prstGeom prst="rect">
            <a:avLst/>
          </a:prstGeom>
          <a:solidFill>
            <a:srgbClr val="FFB24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22711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/>
          <p:nvPr/>
        </p:nvSpPr>
        <p:spPr>
          <a:xfrm>
            <a:off x="4027140" y="457200"/>
            <a:ext cx="5116860" cy="139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030303"/>
                </a:solidFill>
                <a:latin typeface="Space Mono"/>
                <a:ea typeface="Space Mono"/>
                <a:cs typeface="Space Mono"/>
                <a:sym typeface="Space Mono"/>
              </a:rPr>
              <a:t>APPLICATION 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4027140" y="657300"/>
            <a:ext cx="4659660" cy="1500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750"/>
              <a:buFont typeface="Space Grotesk SemiBold"/>
              <a:buNone/>
            </a:pPr>
            <a:r>
              <a:rPr b="0" i="0" lang="en-US" sz="375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DOCUMENT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3750"/>
              <a:buFont typeface="Space Grotesk SemiBold"/>
              <a:buNone/>
            </a:pPr>
            <a:r>
              <a:rPr b="0" i="0" lang="en-US" sz="375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CLASSIFICATION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FF4615"/>
              </a:buClr>
              <a:buSzPts val="3750"/>
              <a:buFont typeface="Space Grotesk SemiBold"/>
              <a:buNone/>
            </a:pPr>
            <a:r>
              <a:rPr b="0" i="0" lang="en-US" sz="3750" u="none" cap="none" strike="noStrike">
                <a:solidFill>
                  <a:srgbClr val="FF46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SORTS THE FLOOD.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4027140" y="2285479"/>
            <a:ext cx="511686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It assigns documents to useful categories automatically.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4027140" y="2591172"/>
            <a:ext cx="2272680" cy="7819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0490" y="272452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/>
          <p:nvPr/>
        </p:nvSpPr>
        <p:spPr>
          <a:xfrm>
            <a:off x="4160490" y="3070875"/>
            <a:ext cx="2005980" cy="16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300"/>
              <a:buFont typeface="Space Grotesk SemiBold"/>
              <a:buNone/>
            </a:pPr>
            <a:r>
              <a:rPr b="0" i="0" lang="en-US" sz="130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INVOICES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6414120" y="2591172"/>
            <a:ext cx="2272680" cy="7819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7470" y="272452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8"/>
          <p:cNvSpPr/>
          <p:nvPr/>
        </p:nvSpPr>
        <p:spPr>
          <a:xfrm>
            <a:off x="6547470" y="3070875"/>
            <a:ext cx="2005980" cy="16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300"/>
              <a:buFont typeface="Space Grotesk SemiBold"/>
              <a:buNone/>
            </a:pPr>
            <a:r>
              <a:rPr b="0" i="0" lang="en-US" sz="130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RESUMES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4027140" y="3487415"/>
            <a:ext cx="2272680" cy="7819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60490" y="362076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/>
          <p:nvPr/>
        </p:nvSpPr>
        <p:spPr>
          <a:xfrm>
            <a:off x="4160490" y="3967118"/>
            <a:ext cx="2005980" cy="16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300"/>
              <a:buFont typeface="Space Grotesk SemiBold"/>
              <a:buNone/>
            </a:pPr>
            <a:r>
              <a:rPr b="0" i="0" lang="en-US" sz="130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CONTRACTS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414120" y="3487415"/>
            <a:ext cx="2272680" cy="7819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7470" y="362076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6547470" y="3967118"/>
            <a:ext cx="2005980" cy="169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300"/>
              <a:buFont typeface="Space Grotesk SemiBold"/>
              <a:buNone/>
            </a:pPr>
            <a:r>
              <a:rPr b="0" i="0" lang="en-US" sz="130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TICKETS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4027140" y="4388421"/>
            <a:ext cx="5116860" cy="139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The result: less manual filing and faster search.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48515" y="4779744"/>
            <a:ext cx="1335256" cy="310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>
            <a:off x="457200" y="977354"/>
            <a:ext cx="8686800" cy="139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030303"/>
                </a:solidFill>
                <a:latin typeface="Space Mono"/>
                <a:ea typeface="Space Mono"/>
                <a:cs typeface="Space Mono"/>
                <a:sym typeface="Space Mono"/>
              </a:rPr>
              <a:t>APPLICATION 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457200" y="1176382"/>
            <a:ext cx="8229600" cy="116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4350"/>
              <a:buFont typeface="Space Grotesk SemiBold"/>
              <a:buNone/>
            </a:pPr>
            <a:r>
              <a:rPr b="0" i="0" lang="en-US" sz="435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RAG GIVES ANSWERS A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4615"/>
              </a:buClr>
              <a:buSzPts val="4350"/>
              <a:buFont typeface="Space Grotesk SemiBold"/>
              <a:buNone/>
            </a:pPr>
            <a:r>
              <a:rPr b="0" i="0" lang="en-US" sz="4350" u="none" cap="none" strike="noStrike">
                <a:solidFill>
                  <a:srgbClr val="FF46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KNOWLEDGE BASE.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457200" y="2465561"/>
            <a:ext cx="868680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RAG means the model checks trusted documents before it answers.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57200" y="2771254"/>
            <a:ext cx="2590800" cy="139481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296175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/>
          <p:nvPr/>
        </p:nvSpPr>
        <p:spPr>
          <a:xfrm>
            <a:off x="647700" y="3308821"/>
            <a:ext cx="2209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RETRIEVE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647700" y="3602310"/>
            <a:ext cx="220980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Find relevant information in trusted documents.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3276600" y="2771254"/>
            <a:ext cx="2590800" cy="139481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7100" y="296175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3467100" y="3308821"/>
            <a:ext cx="2209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ADD CONTEXT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3467100" y="3602310"/>
            <a:ext cx="220980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Give that context to a language model.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6096000" y="2771254"/>
            <a:ext cx="2590800" cy="139481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61754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9"/>
          <p:cNvSpPr/>
          <p:nvPr/>
        </p:nvSpPr>
        <p:spPr>
          <a:xfrm>
            <a:off x="6286500" y="3308821"/>
            <a:ext cx="22098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500"/>
              <a:buFont typeface="Space Grotesk SemiBold"/>
              <a:buNone/>
            </a:pPr>
            <a:r>
              <a:rPr b="0" i="0" lang="en-US" sz="150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GENERATE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9"/>
          <p:cNvSpPr/>
          <p:nvPr/>
        </p:nvSpPr>
        <p:spPr>
          <a:xfrm>
            <a:off x="6286500" y="3602310"/>
            <a:ext cx="220980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Answer using the retrieved material.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8425" y="4801696"/>
            <a:ext cx="13525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/>
          <p:nvPr/>
        </p:nvSpPr>
        <p:spPr>
          <a:xfrm>
            <a:off x="457200" y="1651025"/>
            <a:ext cx="4000500" cy="139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800"/>
              <a:buFont typeface="Space Mono"/>
              <a:buNone/>
            </a:pPr>
            <a:r>
              <a:rPr b="0" i="0" lang="en-US" sz="800" u="none" cap="none" strike="noStrike">
                <a:solidFill>
                  <a:srgbClr val="030303"/>
                </a:solidFill>
                <a:latin typeface="Space Mono"/>
                <a:ea typeface="Space Mono"/>
                <a:cs typeface="Space Mono"/>
                <a:sym typeface="Space Mono"/>
              </a:rPr>
              <a:t>THE SYSTEM VIEW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457200" y="1848267"/>
            <a:ext cx="3543300" cy="1140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2850"/>
              <a:buFont typeface="Space Grotesk SemiBold"/>
              <a:buNone/>
            </a:pPr>
            <a:r>
              <a:rPr b="0" i="0" lang="en-US" sz="2850" u="none" cap="none" strike="noStrike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TOGETHER, THEY TURN TEXT INTO </a:t>
            </a:r>
            <a:r>
              <a:rPr b="0" i="0" lang="en-US" sz="2850" u="none" cap="none" strike="noStrike">
                <a:solidFill>
                  <a:srgbClr val="FF46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ACTION.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457200" y="3119214"/>
            <a:ext cx="3543300" cy="373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030303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030303"/>
                </a:solidFill>
                <a:latin typeface="Inter"/>
                <a:ea typeface="Inter"/>
                <a:cs typeface="Inter"/>
                <a:sym typeface="Inter"/>
              </a:rPr>
              <a:t>Each tool handles one part of the journey, moving messy text toward a useful next step.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0" y="1575197"/>
            <a:ext cx="3543300" cy="1993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8550" y="4829175"/>
            <a:ext cx="1352550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4625" y="4779550"/>
            <a:ext cx="128587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1"/>
          <p:cNvSpPr txBox="1"/>
          <p:nvPr/>
        </p:nvSpPr>
        <p:spPr>
          <a:xfrm>
            <a:off x="2376450" y="2134650"/>
            <a:ext cx="47658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50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THANK</a:t>
            </a:r>
            <a:r>
              <a:rPr lang="en-US" sz="5150">
                <a:solidFill>
                  <a:srgbClr val="030303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 </a:t>
            </a:r>
            <a:r>
              <a:rPr lang="en-US" sz="5150">
                <a:solidFill>
                  <a:srgbClr val="FF46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YOU….</a:t>
            </a:r>
            <a:r>
              <a:rPr lang="en-US" sz="5150">
                <a:solidFill>
                  <a:srgbClr val="FF4615"/>
                </a:solidFill>
                <a:latin typeface="Space Grotesk SemiBold"/>
                <a:ea typeface="Space Grotesk SemiBold"/>
                <a:cs typeface="Space Grotesk SemiBold"/>
                <a:sym typeface="Space Grotesk SemiBold"/>
              </a:rPr>
              <a:t>.!</a:t>
            </a:r>
            <a:endParaRPr sz="3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